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06f9ec59f457b" /><Relationship Type="http://schemas.openxmlformats.org/officeDocument/2006/relationships/extended-properties" Target="/docProps/app.xml" Id="R436698c267a64b2d" /><Relationship Type="http://schemas.openxmlformats.org/officeDocument/2006/relationships/officeDocument" Target="/ppt/presentation.xml" Id="Ra961d177a9d246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296a65954c4fda"/>
  </p:sldMasterIdLst>
  <p:notesMasterIdLst>
    <p:notesMasterId xmlns:r="http://schemas.openxmlformats.org/officeDocument/2006/relationships" r:id="Rdd13bed176f2475a"/>
  </p:notesMasterIdLst>
  <p:sldIdLst>
    <p:sldId xmlns:r="http://schemas.openxmlformats.org/officeDocument/2006/relationships" id="256" r:id="R8712b821a865430a"/>
    <p:sldId xmlns:r="http://schemas.openxmlformats.org/officeDocument/2006/relationships" id="257" r:id="R82be6f4f8c1f45ac"/>
    <p:sldId xmlns:r="http://schemas.openxmlformats.org/officeDocument/2006/relationships" id="258" r:id="R0c088d64f8e94433"/>
    <p:sldId xmlns:r="http://schemas.openxmlformats.org/officeDocument/2006/relationships" id="259" r:id="Rd19fad09e27b4c27"/>
    <p:sldId xmlns:r="http://schemas.openxmlformats.org/officeDocument/2006/relationships" id="260" r:id="Red3ea46bdfd842d5"/>
    <p:sldId xmlns:r="http://schemas.openxmlformats.org/officeDocument/2006/relationships" id="261" r:id="R906cbdad218047ef"/>
    <p:sldId xmlns:r="http://schemas.openxmlformats.org/officeDocument/2006/relationships" id="262" r:id="Rd2d1ee5897a24175"/>
    <p:sldId xmlns:r="http://schemas.openxmlformats.org/officeDocument/2006/relationships" id="263" r:id="Rc60b7a2737834d6e"/>
    <p:sldId xmlns:r="http://schemas.openxmlformats.org/officeDocument/2006/relationships" id="264" r:id="R00fb80701de64637"/>
    <p:sldId xmlns:r="http://schemas.openxmlformats.org/officeDocument/2006/relationships" id="265" r:id="R20195af9b8eb4bd7"/>
    <p:sldId xmlns:r="http://schemas.openxmlformats.org/officeDocument/2006/relationships" id="266" r:id="Rf82cfd74c6664ed6"/>
    <p:sldId xmlns:r="http://schemas.openxmlformats.org/officeDocument/2006/relationships" id="267" r:id="R6ea66ed2325f48ed"/>
    <p:sldId xmlns:r="http://schemas.openxmlformats.org/officeDocument/2006/relationships" id="268" r:id="Rc8f532839a164983"/>
    <p:sldId xmlns:r="http://schemas.openxmlformats.org/officeDocument/2006/relationships" id="269" r:id="R0e1644e24a1b41b0"/>
    <p:sldId xmlns:r="http://schemas.openxmlformats.org/officeDocument/2006/relationships" id="270" r:id="R579f855c3db8400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cfdd83f3594ea8" /><Relationship Type="http://schemas.openxmlformats.org/officeDocument/2006/relationships/slideMaster" Target="/ppt/slideMasters/slideMaster1.xml" Id="R4b296a65954c4fda" /><Relationship Type="http://schemas.openxmlformats.org/officeDocument/2006/relationships/notesMaster" Target="/ppt/notesMasters/notesMaster1.xml" Id="Rdd13bed176f2475a" /><Relationship Type="http://schemas.openxmlformats.org/officeDocument/2006/relationships/presProps" Target="/ppt/presProps.xml" Id="R78a7b20068ae4f72" /><Relationship Type="http://schemas.openxmlformats.org/officeDocument/2006/relationships/viewProps" Target="/ppt/viewProps.xml" Id="R2f26fdf003c84613" /><Relationship Type="http://schemas.openxmlformats.org/officeDocument/2006/relationships/tableStyles" Target="/ppt/tableStyles.xml" Id="R9cf621dbd8104114" /><Relationship Type="http://schemas.openxmlformats.org/officeDocument/2006/relationships/slide" Target="/ppt/slides/slide1.xml" Id="R8712b821a865430a" /><Relationship Type="http://schemas.openxmlformats.org/officeDocument/2006/relationships/slide" Target="/ppt/slides/slide2.xml" Id="R82be6f4f8c1f45ac" /><Relationship Type="http://schemas.openxmlformats.org/officeDocument/2006/relationships/slide" Target="/ppt/slides/slide3.xml" Id="R0c088d64f8e94433" /><Relationship Type="http://schemas.openxmlformats.org/officeDocument/2006/relationships/slide" Target="/ppt/slides/slide4.xml" Id="Rd19fad09e27b4c27" /><Relationship Type="http://schemas.openxmlformats.org/officeDocument/2006/relationships/slide" Target="/ppt/slides/slide5.xml" Id="Red3ea46bdfd842d5" /><Relationship Type="http://schemas.openxmlformats.org/officeDocument/2006/relationships/slide" Target="/ppt/slides/slide6.xml" Id="R906cbdad218047ef" /><Relationship Type="http://schemas.openxmlformats.org/officeDocument/2006/relationships/slide" Target="/ppt/slides/slide7.xml" Id="Rd2d1ee5897a24175" /><Relationship Type="http://schemas.openxmlformats.org/officeDocument/2006/relationships/slide" Target="/ppt/slides/slide8.xml" Id="Rc60b7a2737834d6e" /><Relationship Type="http://schemas.openxmlformats.org/officeDocument/2006/relationships/slide" Target="/ppt/slides/slide9.xml" Id="R00fb80701de64637" /><Relationship Type="http://schemas.openxmlformats.org/officeDocument/2006/relationships/slide" Target="/ppt/slides/slide10.xml" Id="R20195af9b8eb4bd7" /><Relationship Type="http://schemas.openxmlformats.org/officeDocument/2006/relationships/slide" Target="/ppt/slides/slide11.xml" Id="Rf82cfd74c6664ed6" /><Relationship Type="http://schemas.openxmlformats.org/officeDocument/2006/relationships/slide" Target="/ppt/slides/slide12.xml" Id="R6ea66ed2325f48ed" /><Relationship Type="http://schemas.openxmlformats.org/officeDocument/2006/relationships/slide" Target="/ppt/slides/slide13.xml" Id="Rc8f532839a164983" /><Relationship Type="http://schemas.openxmlformats.org/officeDocument/2006/relationships/slide" Target="/ppt/slides/slide14.xml" Id="R0e1644e24a1b41b0" /><Relationship Type="http://schemas.openxmlformats.org/officeDocument/2006/relationships/slide" Target="/ppt/slides/slide15.xml" Id="R579f855c3db840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1aa67f3a69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9668edc80a4046" /><Relationship Type="http://schemas.openxmlformats.org/officeDocument/2006/relationships/notesMaster" Target="/ppt/notesMasters/notesMaster1.xml" Id="Rf96e376cb12c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38e7fc3fc40d6" /><Relationship Type="http://schemas.openxmlformats.org/officeDocument/2006/relationships/notesMaster" Target="/ppt/notesMasters/notesMaster1.xml" Id="R44a4daa2d1bb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798e8480514bb8" /><Relationship Type="http://schemas.openxmlformats.org/officeDocument/2006/relationships/notesMaster" Target="/ppt/notesMasters/notesMaster1.xml" Id="Rcd254a2b61cb4c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8eedb6abdf4f84" /><Relationship Type="http://schemas.openxmlformats.org/officeDocument/2006/relationships/notesMaster" Target="/ppt/notesMasters/notesMaster1.xml" Id="R239bd6323de64c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aff26d4d194531" /><Relationship Type="http://schemas.openxmlformats.org/officeDocument/2006/relationships/notesMaster" Target="/ppt/notesMasters/notesMaster1.xml" Id="Rc1bc203340a7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8d4552291d4e5c" /><Relationship Type="http://schemas.openxmlformats.org/officeDocument/2006/relationships/notesMaster" Target="/ppt/notesMasters/notesMaster1.xml" Id="R97a18f79062b47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0048bb6e641fc" /><Relationship Type="http://schemas.openxmlformats.org/officeDocument/2006/relationships/notesMaster" Target="/ppt/notesMasters/notesMaster1.xml" Id="Rb182533db50147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4f830e076a461a" /><Relationship Type="http://schemas.openxmlformats.org/officeDocument/2006/relationships/notesMaster" Target="/ppt/notesMasters/notesMaster1.xml" Id="R2992afddc18246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dce48690fa4274" /><Relationship Type="http://schemas.openxmlformats.org/officeDocument/2006/relationships/notesMaster" Target="/ppt/notesMasters/notesMaster1.xml" Id="R9e50c99b701b4e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e470549372413b" /><Relationship Type="http://schemas.openxmlformats.org/officeDocument/2006/relationships/notesMaster" Target="/ppt/notesMasters/notesMaster1.xml" Id="R42b0aa902511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d6577aa0eb4e98" /><Relationship Type="http://schemas.openxmlformats.org/officeDocument/2006/relationships/notesMaster" Target="/ppt/notesMasters/notesMaster1.xml" Id="R98befecaa9d54a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e59e2ca57459a" /><Relationship Type="http://schemas.openxmlformats.org/officeDocument/2006/relationships/notesMaster" Target="/ppt/notesMasters/notesMaster1.xml" Id="R2e815c4dda474e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872b65889c4f60" /><Relationship Type="http://schemas.openxmlformats.org/officeDocument/2006/relationships/notesMaster" Target="/ppt/notesMasters/notesMaster1.xml" Id="R70d5dad2d2324a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44c61ad91c4ca8" /><Relationship Type="http://schemas.openxmlformats.org/officeDocument/2006/relationships/notesMaster" Target="/ppt/notesMasters/notesMaster1.xml" Id="R303e0b534c5c48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c8bd5917034aa7" /><Relationship Type="http://schemas.openxmlformats.org/officeDocument/2006/relationships/notesMaster" Target="/ppt/notesMasters/notesMaster1.xml" Id="Rc9531fc7bc19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 uses 10,000 draws and random seed 562. Source: project output/results/simulation_summary.csv.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 uses 10,000 draws and random seed 562. Source: project output/results/simulation_summary.csv.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 uses 10,000 draws and random seed 562. Source: project output/results/simulation_summary.csv.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 uses 10,000 draws and random seed 562. Source: project output/results/simulation_summary.csv.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Simulation uses 10,000 draws and random seed 562. Source: project output/results/simulation_summary.csv.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d18c0a6ab4c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898d0da544a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0262e02e14b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02be1525d41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5cb77d8b249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c3a1655504f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3ebc2bef245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025c4e6d943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df9d242b54f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466d39a6e48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d50a29f8041a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B5AE07-6BBC-4075-8733-B21422BE17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A452232-FD39-4279-A978-C7C905C226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395DB9-A3BD-496A-95A3-884F5CCA77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1575E6-3191-41F8-B6C1-585EEF009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DF2A82-7682-4599-BC67-82E1A0A1CB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4F0A42-35D0-40D4-AF4B-55CA14F33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653AA9-A546-47BC-B06C-34AA0474C7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85318E-2FE1-4967-AF41-54D10E081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7E1AA3-6601-45D1-AB05-B049B6A672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0E110C-814A-4F27-B9FE-9BF604242F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45956-C4F5-497B-A52F-8343CFDA6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79CA5D-052B-47D3-9322-EE22E07D79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040499-D71E-4359-8552-3B1E8D54B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169F1A-62E7-4FF7-AAA9-A2F01E9AE0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A4F871-8474-4C29-B706-5FB25A1A5E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379F2E-8FB4-4E5A-9996-0C1A1E7565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5615DA-4E7C-489D-BB90-EEBF6919C8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E52189-C6A7-4A6B-B9E8-199E4F0754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A5C02DA-3871-4F9A-A62D-49823385D1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5B99EB-69F6-49A4-9EBD-B2BC03118D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893716-0D1C-4784-B0B8-3CFBF3A058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0B776D-01EA-4CC9-A3F9-C7F8C55B71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0C7978-ECAC-41DE-BB1E-E69FC0BFA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358CA1-0519-448E-A563-722A829EE4E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A128FE6-1CB9-4AA1-8BBD-AC042F4C2A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FCB432-C83B-48CE-A5C9-0B97FB68BE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1AA8F23-30D7-4D7A-8CD6-8BD7149FEF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DCABFFE-935F-4994-B8A7-0C9F43B37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AC8885-DF9A-4AC4-9B96-8FB594ADA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E70D18-D6B5-4144-BB47-685F3B8B68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5F6B70-35AD-47A6-A191-3DA00C4A3B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B59D13D-424B-42E2-9FA8-B1A9FCA04A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2F77CFF-B050-4AD7-8177-6620319CF9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A35E8C5-577E-4DE2-AB60-6C6FED6865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CB85026-E498-4CD7-8EF6-5DE66C0FF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88B382A-E76C-43B5-B5FA-A2257478F5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9E599C-A794-4D44-A59F-B48389BFA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E85A1B4-E385-4322-8779-7C95405C43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3A1D1C-2E02-4D36-B4D6-501245D8A5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90DB811-D320-4024-937A-D408722627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9355FA-D354-4233-9AAE-5D74FBB4A6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02225CC-1B55-4A7B-95D3-26F4FC38C7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12DBDE-FE44-49DB-A013-E69CEE115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B91535-AE62-410E-8D55-AD04A442346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1FBA55-6F80-4674-9B79-821D4A3BB9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B23933-36B3-48CC-A1BE-0EB011C021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0D87156-E370-4092-AA29-E98098DB0E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1BDF2A-76EE-4102-8E2E-4DC09CFAF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D83E64-7F0E-4411-8E2E-A8A8CFD42E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998E5C-BEB4-4373-93E1-A6ADB8B915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1EF0E5-1A18-464F-AE61-B731BEDF31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3BA841-BEB1-4C19-A5DB-D0CD3F5840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0051A2-1D74-49CA-BAB4-B2F18D99D5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5CAD3EC-6194-4D2D-B473-35E2DE6BD4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AE29E3-AAD3-4BE7-8031-259CEE38C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57F51-9DCF-47BF-A24B-3D6F669D48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A38B4E-5A8C-4759-907F-D5417ABEB9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FF09BE-1FF8-48DA-8A4E-7FBD65C76F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f8bf5a6f8d42b7" /><Relationship Type="http://schemas.openxmlformats.org/officeDocument/2006/relationships/slideLayout" Target="/ppt/slideLayouts/slideLayout1.xml" Id="Rabc4306d92264ba7" /><Relationship Type="http://schemas.openxmlformats.org/officeDocument/2006/relationships/slideLayout" Target="/ppt/slideLayouts/slideLayout2.xml" Id="Rec835dd5c23d4db1" /><Relationship Type="http://schemas.openxmlformats.org/officeDocument/2006/relationships/slideLayout" Target="/ppt/slideLayouts/slideLayout3.xml" Id="R637d5707ec4b41bf" /><Relationship Type="http://schemas.openxmlformats.org/officeDocument/2006/relationships/slideLayout" Target="/ppt/slideLayouts/slideLayout4.xml" Id="Rbb287d49b64a4342" /><Relationship Type="http://schemas.openxmlformats.org/officeDocument/2006/relationships/slideLayout" Target="/ppt/slideLayouts/slideLayout5.xml" Id="R41b79484255349cf" /><Relationship Type="http://schemas.openxmlformats.org/officeDocument/2006/relationships/slideLayout" Target="/ppt/slideLayouts/slideLayout6.xml" Id="R4eeee5cc0d314fae" /><Relationship Type="http://schemas.openxmlformats.org/officeDocument/2006/relationships/slideLayout" Target="/ppt/slideLayouts/slideLayout7.xml" Id="Rac8589b8f00b47b9" /><Relationship Type="http://schemas.openxmlformats.org/officeDocument/2006/relationships/slideLayout" Target="/ppt/slideLayouts/slideLayout8.xml" Id="R1b28ee7f37324b38" /><Relationship Type="http://schemas.openxmlformats.org/officeDocument/2006/relationships/slideLayout" Target="/ppt/slideLayouts/slideLayout9.xml" Id="R78f2532796c94170" /><Relationship Type="http://schemas.openxmlformats.org/officeDocument/2006/relationships/slideLayout" Target="/ppt/slideLayouts/slideLayout10.xml" Id="Rf2780822c8504be3" /><Relationship Type="http://schemas.openxmlformats.org/officeDocument/2006/relationships/slideLayout" Target="/ppt/slideLayouts/slideLayout11.xml" Id="R92fdca583c014c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448E63-B40A-4F4E-9717-18598A63C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21466D-5C14-4C44-9DA7-B2C5D8BB58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E1A750-978B-44F5-9724-425BBD3A59F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A0E69-9AEC-4497-B11C-3920C57AEC4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AFAC17-FA2F-482B-A6B2-0B7807A740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4306d92264ba7"/>
    <p:sldLayoutId xmlns:r="http://schemas.openxmlformats.org/officeDocument/2006/relationships" id="2147483650" r:id="Rec835dd5c23d4db1"/>
    <p:sldLayoutId xmlns:r="http://schemas.openxmlformats.org/officeDocument/2006/relationships" id="2147483651" r:id="R637d5707ec4b41bf"/>
    <p:sldLayoutId xmlns:r="http://schemas.openxmlformats.org/officeDocument/2006/relationships" id="2147483652" r:id="Rbb287d49b64a4342"/>
    <p:sldLayoutId xmlns:r="http://schemas.openxmlformats.org/officeDocument/2006/relationships" id="2147483653" r:id="R41b79484255349cf"/>
    <p:sldLayoutId xmlns:r="http://schemas.openxmlformats.org/officeDocument/2006/relationships" id="2147483654" r:id="R4eeee5cc0d314fae"/>
    <p:sldLayoutId xmlns:r="http://schemas.openxmlformats.org/officeDocument/2006/relationships" id="2147483655" r:id="Rac8589b8f00b47b9"/>
    <p:sldLayoutId xmlns:r="http://schemas.openxmlformats.org/officeDocument/2006/relationships" id="2147483656" r:id="R1b28ee7f37324b38"/>
    <p:sldLayoutId xmlns:r="http://schemas.openxmlformats.org/officeDocument/2006/relationships" id="2147483657" r:id="R78f2532796c94170"/>
    <p:sldLayoutId xmlns:r="http://schemas.openxmlformats.org/officeDocument/2006/relationships" id="2147483658" r:id="Rf2780822c8504be3"/>
    <p:sldLayoutId xmlns:r="http://schemas.openxmlformats.org/officeDocument/2006/relationships" id="2147483659" r:id="R92fdca583c014c9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44d7c3f9ab4562" /><Relationship Type="http://schemas.openxmlformats.org/officeDocument/2006/relationships/notesSlide" Target="/ppt/notesSlides/notesSlide1.xml" Id="R008a91ce25534c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16b2eecf534448" /><Relationship Type="http://schemas.openxmlformats.org/officeDocument/2006/relationships/notesSlide" Target="/ppt/notesSlides/notesSlide2.xml" Id="R6595f2e3baa0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549b8e68184565" /><Relationship Type="http://schemas.openxmlformats.org/officeDocument/2006/relationships/notesSlide" Target="/ppt/notesSlides/notesSlide3.xml" Id="R96039a8adf954a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e916573b7e48da" /><Relationship Type="http://schemas.openxmlformats.org/officeDocument/2006/relationships/notesSlide" Target="/ppt/notesSlides/notesSlide4.xml" Id="R6d9f1039079846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d900a6b39d4833" /><Relationship Type="http://schemas.openxmlformats.org/officeDocument/2006/relationships/notesSlide" Target="/ppt/notesSlides/notesSlide5.xml" Id="R5b79790381de4a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aadbbb02bb40c3" /><Relationship Type="http://schemas.openxmlformats.org/officeDocument/2006/relationships/notesSlide" Target="/ppt/notesSlides/notesSlide6.xml" Id="R7d00f6d18f4c46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369e341e17400d" /><Relationship Type="http://schemas.openxmlformats.org/officeDocument/2006/relationships/notesSlide" Target="/ppt/notesSlides/notesSlide7.xml" Id="R52a2e2dbc0c940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03d9a228cd4fd1" /><Relationship Type="http://schemas.openxmlformats.org/officeDocument/2006/relationships/notesSlide" Target="/ppt/notesSlides/notesSlide8.xml" Id="Re1d75289ff1a46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0afab279114ab1" /><Relationship Type="http://schemas.openxmlformats.org/officeDocument/2006/relationships/notesSlide" Target="/ppt/notesSlides/notesSlide9.xml" Id="R895a99ad8770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8ffb450ca74070" /><Relationship Type="http://schemas.openxmlformats.org/officeDocument/2006/relationships/notesSlide" Target="/ppt/notesSlides/notesSlide10.xml" Id="R34b50dba990c4c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a40763ec449fb" /><Relationship Type="http://schemas.openxmlformats.org/officeDocument/2006/relationships/image" Target="/ppt/media/image.png" Id="Rf2a76b924df24089" /><Relationship Type="http://schemas.openxmlformats.org/officeDocument/2006/relationships/notesSlide" Target="/ppt/notesSlides/notesSlide11.xml" Id="R5b1de032c9cb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01d41f3cc4647" /><Relationship Type="http://schemas.openxmlformats.org/officeDocument/2006/relationships/image" Target="/ppt/media/image2.png" Id="R4b68e436571d469b" /><Relationship Type="http://schemas.openxmlformats.org/officeDocument/2006/relationships/notesSlide" Target="/ppt/notesSlides/notesSlide12.xml" Id="R29cbff7ef94d49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6b2a46d824f43" /><Relationship Type="http://schemas.openxmlformats.org/officeDocument/2006/relationships/image" Target="/ppt/media/image3.png" Id="R3abae19c9e1f4ed2" /><Relationship Type="http://schemas.openxmlformats.org/officeDocument/2006/relationships/notesSlide" Target="/ppt/notesSlides/notesSlide13.xml" Id="R4f65b4c0b451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48647ba7b4217" /><Relationship Type="http://schemas.openxmlformats.org/officeDocument/2006/relationships/image" Target="/ppt/media/image4.png" Id="Rb3b55a2c078345a5" /><Relationship Type="http://schemas.openxmlformats.org/officeDocument/2006/relationships/notesSlide" Target="/ppt/notesSlides/notesSlide14.xml" Id="R3b8beaed48524d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22c48d8d846d9" /><Relationship Type="http://schemas.openxmlformats.org/officeDocument/2006/relationships/image" Target="/ppt/media/image5.png" Id="R9db36372cd5749dd" /><Relationship Type="http://schemas.openxmlformats.org/officeDocument/2006/relationships/notesSlide" Target="/ppt/notesSlides/notesSlide15.xml" Id="R8cef917d5e2640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842DD3-2365-419C-A1D4-C441549F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0240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/>
            </a:pPr>
            <a:r>
              <a:t>Discrete Probability Distributions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934419-F202-4608-A067-0427892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10149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0"/>
            </a:pPr>
            <a:r>
              <a:t>Flight Delay Analysis &amp; Journal Article Review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CDBE769-E9B3-4C11-895E-7241C845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39"/>
            <a:ext cx="8503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/>
            </a:pPr>
            <a:r>
              <a:t>STAT 562 Project 1</a:t>
            </a:r>
          </a:p>
        </p:txBody>
      </p:sp>
    </p:spTree>
    <p:extLst>
      <p:ext uri="{BB962C8B-B14F-4D97-AF65-F5344CB8AC3E}">
        <p14:creationId xmlns:p14="http://schemas.microsoft.com/office/powerpoint/2010/main" val="20282269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AB3F133-8743-43CC-82BC-F2C8AD6A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Introduction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CD48C40-AC36-41EA-AB01-06F3628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Data: 3,000,000 flight-level records with FL_DATE and DEP_DELAY. Cleaning retained 2,922,356 flights with nonmissing date and departure delay.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Observed calendar: 1,704 daily intervals from 2019-01-01 to 2023-08-31.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Delayed flight: DEP_DELAY &gt; 0 minutes.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Mean departure delay: 10.123 minutes. Empirical SD: 49.252 minutes.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Delayed flights: 992,843, or 33.974%.</a:t>
            </a:r>
          </a:p>
        </p:txBody>
      </p:sp>
    </p:spTree>
    <p:extLst>
      <p:ext uri="{BB962C8B-B14F-4D97-AF65-F5344CB8AC3E}">
        <p14:creationId xmlns:p14="http://schemas.microsoft.com/office/powerpoint/2010/main" val="198301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C0FC4AD-2BDB-4230-847E-1FDA5E8D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Binomial Distribution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74B4E2-C59C-4FC1-835B-3FDAAE03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Use: high-delay days in a fixed 10-day period.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Own-data success: daily delayed-flight rate &gt; 40%.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Estimated p = 0.275235; E[X] = 2.752; Var(X) = 1.995.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Simulation, 10,000 draws: mean = 2.756; variance = 1.989.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MGF: M_X(t) = (1-p+p e^t)^n, t in R.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Theory: Blitzstein and Hwang (2019).</a:t>
            </a:r>
          </a:p>
        </p:txBody>
      </p:sp>
    </p:spTree>
    <p:extLst>
      <p:ext uri="{BB962C8B-B14F-4D97-AF65-F5344CB8AC3E}">
        <p14:creationId xmlns:p14="http://schemas.microsoft.com/office/powerpoint/2010/main" val="6374035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82CD22E-1A45-4F0D-8D9E-A16B75CE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Poisson Distribution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C20999-186A-4C26-B5C2-A0A0CFDF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Own-data outcome: delayed flights per observed day.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lambda = 582.654; empirical variance = 73,845.030; empirical SD = 271.744.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Poisson theoretical variance = 582.654; variance-to-mean ratio = 126.739.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Simulation mean = 582.747; simulation variance = 583.783.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MGF: M_X(t) = exp{lambda(e^t-1)}, t in R.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Theory: Blitzstein and Hwang (2019).</a:t>
            </a:r>
          </a:p>
        </p:txBody>
      </p:sp>
    </p:spTree>
    <p:extLst>
      <p:ext uri="{BB962C8B-B14F-4D97-AF65-F5344CB8AC3E}">
        <p14:creationId xmlns:p14="http://schemas.microsoft.com/office/powerpoint/2010/main" val="8563781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A9C5C70-A048-4012-A857-B19CEB8B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Geometric Distribution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BADBCB-F5EF-4B20-B262-A6D0A319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Own-data success: at least 10% of a day’s flights have DEP_DELAY &gt; 30 minutes.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p = 0.487676; E[X] = 2.051 days; Var(X) = 2.154.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Simulation mean = 2.061; simulation variance = 2.165.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MGF: M_X(t) = p e^t / [1-(1-p)e^t], t &lt; -log(1-p).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Theory: Blitzstein and Hwang (2019).</a:t>
            </a:r>
          </a:p>
        </p:txBody>
      </p:sp>
    </p:spTree>
    <p:extLst>
      <p:ext uri="{BB962C8B-B14F-4D97-AF65-F5344CB8AC3E}">
        <p14:creationId xmlns:p14="http://schemas.microsoft.com/office/powerpoint/2010/main" val="2938951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EA7AB8-E65F-4021-98AD-975F602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Negative Binomial Distribution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0B22BA-9BF1-444B-9C28-39292402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Own-data success: a delayed flight, DEP_DELAY &gt; 0.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r = 5; p = 0.339741; E[X] = 14.717 flights; Var(X) = 28.602.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Simulation mean = 14.748; simulation variance = 28.426.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MGF: [p e^t / {1-(1-p)e^t}]^r, t &lt; -log(1-p).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Theory: Blitzstein and Hwang (2019).</a:t>
            </a:r>
          </a:p>
        </p:txBody>
      </p:sp>
    </p:spTree>
    <p:extLst>
      <p:ext uri="{BB962C8B-B14F-4D97-AF65-F5344CB8AC3E}">
        <p14:creationId xmlns:p14="http://schemas.microsoft.com/office/powerpoint/2010/main" val="3572565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6BD51D-2361-4503-91DF-72B85699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Hypergeometric Distribution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AE311A4-519C-42FA-9785-EDE349BD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Own-data population: N = 2,922,356; delayed flights K = 992,843; sample n = 100.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E[X] = 33.974; Var(X) = 22.431.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Simulation mean = 33.932; simulation variance = 22.539.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MGF: sum over support of e^(tx) P(X=x), t in R.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Theory: Blitzstein and Hwang (2019).</a:t>
            </a:r>
          </a:p>
        </p:txBody>
      </p:sp>
    </p:spTree>
    <p:extLst>
      <p:ext uri="{BB962C8B-B14F-4D97-AF65-F5344CB8AC3E}">
        <p14:creationId xmlns:p14="http://schemas.microsoft.com/office/powerpoint/2010/main" val="1545563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63B3BE-71A5-4D1D-BD8C-78BF9697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Journal Article: Aircraft Delay Analysis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E7F501-85D0-48F8-A65D-FBCD519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Peer-reviewed journal article: Mitsokapas, Schäfer, Harris, and Beck (2021), Scientific Reports.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 study statistically characterized arrival delays at UK airports during 2018–2020 and reported broad delay behavior.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Connection: the project’s daily count variance greatly exceeds its Poisson mean, so a simple Poisson model is a benchmark rather than a fitted conclusion.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Mueller and Chatterji (2002) remains background: it is an AIAA technical-forum paper, not the journal article used here.</a:t>
            </a:r>
          </a:p>
        </p:txBody>
      </p:sp>
    </p:spTree>
    <p:extLst>
      <p:ext uri="{BB962C8B-B14F-4D97-AF65-F5344CB8AC3E}">
        <p14:creationId xmlns:p14="http://schemas.microsoft.com/office/powerpoint/2010/main" val="514141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10A55C-67C3-498B-B02D-E3C7F69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Conclusion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7E9E947-5F8E-4290-A5B2-A9678BF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The flight-level results support five distinct probability experiments.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Poisson provides a count benchmark but overdispersion is substantial.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Revised daily-rate thresholds avoid the earlier degenerate Binomial and Geometric results.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All five 10,000-draw simulations closely match their theoretical moments.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Interpret results as describing this sample, not every scheduled U.S. flight.</a:t>
            </a:r>
          </a:p>
        </p:txBody>
      </p:sp>
    </p:spTree>
    <p:extLst>
      <p:ext uri="{BB962C8B-B14F-4D97-AF65-F5344CB8AC3E}">
        <p14:creationId xmlns:p14="http://schemas.microsoft.com/office/powerpoint/2010/main" val="6099604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9A10312-5B36-4523-8146-192280C5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800" b="1"/>
            </a:pPr>
            <a:r>
              <a:t>References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658D9D4-74CC-47D7-84CD-F6CF75CE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106984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Blitzstein, J. K., &amp; Hwang, J. (2019). Introduction to Probability (2nd ed.). Chapman and Hall/CRC.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Mitsokapas, E., Schäfer, B., Harris, R. J., &amp; Beck, C. (2021). Statistical characterization of airplane delays. Scientific Reports, 11, 7855. https://doi.org/10.1038/s41598-021-87279-8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Mueller, E. R., &amp; Chatterji, G. B. (2002). Analysis of aircraft arrival and departure delay characteristics. AIAA ATIO Technical Forum, AIAA 2002-5866. https://doi.org/10.2514/6.2002-5866</a:t>
            </a:r>
          </a:p>
          <a:p xmlns:a="http://schemas.openxmlformats.org/drawingml/2006/main">
            <a:pPr>
              <a:spcAft>
                <a:spcPts val="900"/>
              </a:spcAft>
              <a:buNone/>
              <a:defRPr sz="1800"/>
            </a:pPr>
            <a:r>
              <a:t>Flight-level data: flights_sample_3m.csv, source citation to be completed from original download.</a:t>
            </a:r>
          </a:p>
        </p:txBody>
      </p:sp>
    </p:spTree>
    <p:extLst>
      <p:ext uri="{BB962C8B-B14F-4D97-AF65-F5344CB8AC3E}">
        <p14:creationId xmlns:p14="http://schemas.microsoft.com/office/powerpoint/2010/main" val="1434004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11020-8781-4E7B-A05E-B693C0B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Poisson simulation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76b924df24089"/>
          <a:stretch xmlns:a="http://schemas.openxmlformats.org/drawingml/2006/main"/>
        </p:blipFill>
        <p:spPr>
          <a:xfrm xmlns:a="http://schemas.openxmlformats.org/drawingml/2006/main">
            <a:off x="2019300" y="1095375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177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C3F6D-E312-411B-8EF1-26A3D132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Binomial simulation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8e436571d469b"/>
          <a:stretch xmlns:a="http://schemas.openxmlformats.org/drawingml/2006/main"/>
        </p:blipFill>
        <p:spPr>
          <a:xfrm xmlns:a="http://schemas.openxmlformats.org/drawingml/2006/main">
            <a:off x="2019300" y="1095375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598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27784-3F0A-4293-94FC-348FEEFF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Geometric simulation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ae19c9e1f4ed2"/>
          <a:stretch xmlns:a="http://schemas.openxmlformats.org/drawingml/2006/main"/>
        </p:blipFill>
        <p:spPr>
          <a:xfrm xmlns:a="http://schemas.openxmlformats.org/drawingml/2006/main">
            <a:off x="2019300" y="1095375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287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D2FDD-6687-48A5-97F6-BE064BD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Negative Binomial simulation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55a2c078345a5"/>
          <a:stretch xmlns:a="http://schemas.openxmlformats.org/drawingml/2006/main"/>
        </p:blipFill>
        <p:spPr>
          <a:xfrm xmlns:a="http://schemas.openxmlformats.org/drawingml/2006/main">
            <a:off x="2019300" y="1095375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21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23018-C144-4F8E-A6A9-D3A90086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Hypergeometric simulation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36372cd5749dd"/>
          <a:stretch xmlns:a="http://schemas.openxmlformats.org/drawingml/2006/main"/>
        </p:blipFill>
        <p:spPr>
          <a:xfrm xmlns:a="http://schemas.openxmlformats.org/drawingml/2006/main">
            <a:off x="2019300" y="1095375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8820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2026-10-04T17:33:34.5060000Z</dcterms:created>
  <dcterms:modified xsi:type="dcterms:W3CDTF">2026-10-04T17:33:34.5060000Z</dcterms:modified>
</coreProperties>
</file>