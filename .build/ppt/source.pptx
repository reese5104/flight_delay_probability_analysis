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t>Discrete Probability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718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/>
            </a:pPr>
            <a:r>
              <a:t>Flight Delay Analysis &amp; Journal Article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77639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/>
            </a:pPr>
            <a:r>
              <a:t>STAT 562 Project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Discrete probability distributions model countable outcomes and random events.</a:t>
            </a:r>
          </a:p>
          <a:p>
            <a:pPr>
              <a:spcAft>
                <a:spcPts val="900"/>
              </a:spcAft>
              <a:defRPr sz="1800"/>
            </a:pPr>
            <a:r>
              <a:t>This project reviews Poisson, Binomial, Geometric, Negative Binomial, and Hypergeometric distributions.</a:t>
            </a:r>
          </a:p>
          <a:p>
            <a:pPr>
              <a:spcAft>
                <a:spcPts val="900"/>
              </a:spcAft>
              <a:defRPr sz="1800"/>
            </a:pPr>
            <a:r>
              <a:t>Applications include flight delays, quality control, traffic flow, communications, and sampling.</a:t>
            </a:r>
          </a:p>
          <a:p>
            <a:pPr>
              <a:spcAft>
                <a:spcPts val="900"/>
              </a:spcAft>
              <a:defRPr sz="1800"/>
            </a:pPr>
            <a:r>
              <a:t>The models connect probability theory with real-world flight-delay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Binomial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Use: number of successes in a fixed number of independent trials.</a:t>
            </a:r>
          </a:p>
          <a:p>
            <a:pPr>
              <a:spcAft>
                <a:spcPts val="900"/>
              </a:spcAft>
              <a:defRPr sz="1800"/>
            </a:pPr>
            <a:r>
              <a:t>Parameters: n = number of trials; p = probability of success.</a:t>
            </a:r>
          </a:p>
          <a:p>
            <a:pPr>
              <a:spcAft>
                <a:spcPts val="900"/>
              </a:spcAft>
              <a:defRPr sz="1800"/>
            </a:pPr>
            <a:r>
              <a:t>PMF: P(X = x) = C(n,x)pˣ(1 − p)ⁿ⁻ˣ</a:t>
            </a:r>
          </a:p>
          <a:p>
            <a:pPr>
              <a:spcAft>
                <a:spcPts val="900"/>
              </a:spcAft>
              <a:defRPr sz="1800"/>
            </a:pPr>
            <a:r>
              <a:t>Mean: E[X] = np</a:t>
            </a:r>
          </a:p>
          <a:p>
            <a:pPr>
              <a:spcAft>
                <a:spcPts val="900"/>
              </a:spcAft>
              <a:defRPr sz="1800"/>
            </a:pPr>
            <a:r>
              <a:t>Variance: Var(X) = np(1 − p)</a:t>
            </a:r>
          </a:p>
          <a:p>
            <a:pPr>
              <a:spcAft>
                <a:spcPts val="900"/>
              </a:spcAft>
              <a:defRPr sz="1800"/>
            </a:pPr>
            <a:r>
              <a:t>MGF: Mₓ(t) = (1 − p + peᵗ)ⁿ</a:t>
            </a:r>
          </a:p>
          <a:p>
            <a:pPr>
              <a:spcAft>
                <a:spcPts val="900"/>
              </a:spcAft>
              <a:defRPr sz="1800"/>
            </a:pPr>
            <a:r>
              <a:t>Applications: quality control, medical trials, marketing, and flight-delay 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Poisson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Use: number of events occurring during a fixed interval.</a:t>
            </a:r>
          </a:p>
          <a:p>
            <a:pPr>
              <a:spcAft>
                <a:spcPts val="900"/>
              </a:spcAft>
              <a:defRPr sz="1800"/>
            </a:pPr>
            <a:r>
              <a:t>Parameter: λ = average event rate.</a:t>
            </a:r>
          </a:p>
          <a:p>
            <a:pPr>
              <a:spcAft>
                <a:spcPts val="900"/>
              </a:spcAft>
              <a:defRPr sz="1800"/>
            </a:pPr>
            <a:r>
              <a:t>PMF: P(X = x) = e⁻λ λˣ / x!</a:t>
            </a:r>
          </a:p>
          <a:p>
            <a:pPr>
              <a:spcAft>
                <a:spcPts val="900"/>
              </a:spcAft>
              <a:defRPr sz="1800"/>
            </a:pPr>
            <a:r>
              <a:t>Mean: E[X] = λ</a:t>
            </a:r>
          </a:p>
          <a:p>
            <a:pPr>
              <a:spcAft>
                <a:spcPts val="900"/>
              </a:spcAft>
              <a:defRPr sz="1800"/>
            </a:pPr>
            <a:r>
              <a:t>Variance: Var(X) = λ</a:t>
            </a:r>
          </a:p>
          <a:p>
            <a:pPr>
              <a:spcAft>
                <a:spcPts val="900"/>
              </a:spcAft>
              <a:defRPr sz="1800"/>
            </a:pPr>
            <a:r>
              <a:t>MGF: Mₓ(t) = e^{λ(eᵗ − 1)}</a:t>
            </a:r>
          </a:p>
          <a:p>
            <a:pPr>
              <a:spcAft>
                <a:spcPts val="900"/>
              </a:spcAft>
              <a:defRPr sz="1800"/>
            </a:pPr>
            <a:r>
              <a:t>Applications: traffic arrivals, server requests, emergency visits, defects, and flight delays.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Geometric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Use: number of trials until the first success.</a:t>
            </a:r>
          </a:p>
          <a:p>
            <a:pPr>
              <a:spcAft>
                <a:spcPts val="900"/>
              </a:spcAft>
              <a:defRPr sz="1800"/>
            </a:pPr>
            <a:r>
              <a:t>Parameter: p = probability of success.</a:t>
            </a:r>
          </a:p>
          <a:p>
            <a:pPr>
              <a:spcAft>
                <a:spcPts val="900"/>
              </a:spcAft>
              <a:defRPr sz="1800"/>
            </a:pPr>
            <a:r>
              <a:t>PMF: P(X = x) = (1 − p)ˣ⁻¹p</a:t>
            </a:r>
          </a:p>
          <a:p>
            <a:pPr>
              <a:spcAft>
                <a:spcPts val="900"/>
              </a:spcAft>
              <a:defRPr sz="1800"/>
            </a:pPr>
            <a:r>
              <a:t>Mean: E[X] = 1/p</a:t>
            </a:r>
          </a:p>
          <a:p>
            <a:pPr>
              <a:spcAft>
                <a:spcPts val="900"/>
              </a:spcAft>
              <a:defRPr sz="1800"/>
            </a:pPr>
            <a:r>
              <a:t>Variance: Var(X) = (1 − p)/p²</a:t>
            </a:r>
          </a:p>
          <a:p>
            <a:pPr>
              <a:spcAft>
                <a:spcPts val="900"/>
              </a:spcAft>
              <a:defRPr sz="1800"/>
            </a:pPr>
            <a:r>
              <a:t>MGF: Mₓ(t) = peᵗ / [1 − (1 − p)eᵗ]</a:t>
            </a:r>
          </a:p>
          <a:p>
            <a:pPr>
              <a:spcAft>
                <a:spcPts val="900"/>
              </a:spcAft>
              <a:defRPr sz="1800"/>
            </a:pPr>
            <a:r>
              <a:t>Applications: first successful transmission, first defective item, or first qualifying flight delay.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Negative Binomial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Use: number of trials required to obtain r successes.</a:t>
            </a:r>
          </a:p>
          <a:p>
            <a:pPr>
              <a:spcAft>
                <a:spcPts val="900"/>
              </a:spcAft>
              <a:defRPr sz="1800"/>
            </a:pPr>
            <a:r>
              <a:t>Parameters: r = required successes; p = probability of success.</a:t>
            </a:r>
          </a:p>
          <a:p>
            <a:pPr>
              <a:spcAft>
                <a:spcPts val="900"/>
              </a:spcAft>
              <a:defRPr sz="1800"/>
            </a:pPr>
            <a:r>
              <a:t>PMF: P(X = x) = C(x−1,r−1)pʳ(1 − p)ˣ⁻ʳ</a:t>
            </a:r>
          </a:p>
          <a:p>
            <a:pPr>
              <a:spcAft>
                <a:spcPts val="900"/>
              </a:spcAft>
              <a:defRPr sz="1800"/>
            </a:pPr>
            <a:r>
              <a:t>Mean: E[X] = r/p</a:t>
            </a:r>
          </a:p>
          <a:p>
            <a:pPr>
              <a:spcAft>
                <a:spcPts val="900"/>
              </a:spcAft>
              <a:defRPr sz="1800"/>
            </a:pPr>
            <a:r>
              <a:t>Variance: Var(X) = r(1 − p)/p²</a:t>
            </a:r>
          </a:p>
          <a:p>
            <a:pPr>
              <a:spcAft>
                <a:spcPts val="900"/>
              </a:spcAft>
              <a:defRPr sz="1800"/>
            </a:pPr>
            <a:r>
              <a:t>MGF: Mₓ(t) = [peᵗ / (1 − (1 − p)eᵗ)]ʳ</a:t>
            </a:r>
          </a:p>
          <a:p>
            <a:pPr>
              <a:spcAft>
                <a:spcPts val="900"/>
              </a:spcAft>
              <a:defRPr sz="1800"/>
            </a:pPr>
            <a:r>
              <a:t>Applications: quality control, repeated transmissions, customer responses, and delay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Hypergeometric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Use: successes in a sample drawn without replacement from a finite population.</a:t>
            </a:r>
          </a:p>
          <a:p>
            <a:pPr>
              <a:spcAft>
                <a:spcPts val="900"/>
              </a:spcAft>
              <a:defRPr sz="1800"/>
            </a:pPr>
            <a:r>
              <a:t>Parameters: N = population size; K = population successes; n = sample size.</a:t>
            </a:r>
          </a:p>
          <a:p>
            <a:pPr>
              <a:spcAft>
                <a:spcPts val="900"/>
              </a:spcAft>
              <a:defRPr sz="1800"/>
            </a:pPr>
            <a:r>
              <a:t>PMF: P(X = x) = [C(K,x)C(N−K,n−x)] / C(N,n)</a:t>
            </a:r>
          </a:p>
          <a:p>
            <a:pPr>
              <a:spcAft>
                <a:spcPts val="900"/>
              </a:spcAft>
              <a:defRPr sz="1800"/>
            </a:pPr>
            <a:r>
              <a:t>Mean: E[X] = nK/N</a:t>
            </a:r>
          </a:p>
          <a:p>
            <a:pPr>
              <a:spcAft>
                <a:spcPts val="900"/>
              </a:spcAft>
              <a:defRPr sz="1800"/>
            </a:pPr>
            <a:r>
              <a:t>Variance: Var(X) = n(K/N)(1 − K/N)(N−n)/(N−1)</a:t>
            </a:r>
          </a:p>
          <a:p>
            <a:pPr>
              <a:spcAft>
                <a:spcPts val="900"/>
              </a:spcAft>
              <a:defRPr sz="1800"/>
            </a:pPr>
            <a:r>
              <a:t>MGF: Mₓ(t) = Σ eᵗˣ [C(K,x)C(N−K,n−x)] / C(N,n)</a:t>
            </a:r>
          </a:p>
          <a:p>
            <a:pPr>
              <a:spcAft>
                <a:spcPts val="900"/>
              </a:spcAft>
              <a:defRPr sz="1800"/>
            </a:pPr>
            <a:r>
              <a:t>Applications: quality inspection, auditing, card sampling, and finite-population flight samples.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Journal Article: Aircraft Delay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Mueller, E. R., &amp; Chatterji, G. B. (2002), “Analysis of Aircraft Arrival and Departure Delay Characteristics.”</a:t>
            </a:r>
          </a:p>
          <a:p>
            <a:pPr>
              <a:spcAft>
                <a:spcPts val="900"/>
              </a:spcAft>
              <a:defRPr sz="1800"/>
            </a:pPr>
            <a:r>
              <a:t>Purpose: characterize aircraft delays and improve probabilistic delay forecasting.</a:t>
            </a:r>
          </a:p>
          <a:p>
            <a:pPr>
              <a:spcAft>
                <a:spcPts val="900"/>
              </a:spcAft>
              <a:defRPr sz="1800"/>
            </a:pPr>
            <a:r>
              <a:t>Data: 10 major U.S. airports over a 21-day period.</a:t>
            </a:r>
          </a:p>
          <a:p>
            <a:pPr>
              <a:spcAft>
                <a:spcPts val="900"/>
              </a:spcAft>
              <a:defRPr sz="1800"/>
            </a:pPr>
            <a:r>
              <a:t>Method: Poisson and Normal distributions were fitted to observed delay distributions; parameters were adjusted using least-squares fitting.</a:t>
            </a:r>
          </a:p>
          <a:p>
            <a:pPr>
              <a:spcAft>
                <a:spcPts val="900"/>
              </a:spcAft>
              <a:defRPr sz="1800"/>
            </a:pPr>
            <a:r>
              <a:t>Finding: departure delays were better modeled by Poisson, while en-route and arrival delays fit Normal distributions better.</a:t>
            </a:r>
          </a:p>
          <a:p>
            <a:pPr>
              <a:spcAft>
                <a:spcPts val="900"/>
              </a:spcAft>
              <a:defRPr sz="1800"/>
            </a:pPr>
            <a:r>
              <a:t>Connection: supports probability modeling of flight delays and shows that distribution choice depends on the type of delay.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Each distribution models a different type of random event.</a:t>
            </a:r>
          </a:p>
          <a:p>
            <a:pPr>
              <a:spcAft>
                <a:spcPts val="900"/>
              </a:spcAft>
              <a:defRPr sz="1800"/>
            </a:pPr>
            <a:r>
              <a:t>Poisson models event counts; Binomial models fixed trials; Geometric models waiting for one success.</a:t>
            </a:r>
          </a:p>
          <a:p>
            <a:pPr>
              <a:spcAft>
                <a:spcPts val="900"/>
              </a:spcAft>
              <a:defRPr sz="1800"/>
            </a:pPr>
            <a:r>
              <a:t>Negative Binomial models waiting for multiple successes; Hypergeometric models sampling without replacement.</a:t>
            </a:r>
          </a:p>
          <a:p>
            <a:pPr>
              <a:spcAft>
                <a:spcPts val="900"/>
              </a:spcAft>
              <a:defRPr sz="1800"/>
            </a:pPr>
            <a:r>
              <a:t>The journal article supports Poisson modeling for departure delays while showing that model selection matters.</a:t>
            </a:r>
          </a:p>
          <a:p>
            <a:pPr>
              <a:spcAft>
                <a:spcPts val="900"/>
              </a:spcAft>
              <a:defRPr sz="1800"/>
            </a:pPr>
            <a:r>
              <a:t>Probability models are useful for flight-delay analysis, but their assumptions must be checked against observed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Mueller, E. R., &amp; Chatterji, G. B. (2002). Analysis of aircraft arrival and departure delay characteristics. AIAA ATIO 2002 Technical Forum, 5866. https://doi.org/10.2514/6.2002-5866</a:t>
            </a:r>
          </a:p>
          <a:p>
            <a:pPr>
              <a:spcAft>
                <a:spcPts val="900"/>
              </a:spcAft>
              <a:defRPr sz="1800"/>
            </a:pPr>
            <a:r>
              <a:t>Fleurquin, P., Ramasco, J. J., &amp; Eguiluz, V. M. (2021). Statistical characterization of airplane delays. Scientific Reports, 11, 7848. https://doi.org/10.1038/s41598-021-87279-8</a:t>
            </a:r>
          </a:p>
          <a:p>
            <a:pPr>
              <a:spcAft>
                <a:spcPts val="900"/>
              </a:spcAft>
              <a:defRPr sz="1800"/>
            </a:pPr>
            <a:r>
              <a:t>Zel, P. Flight Delay and Cancellation Dataset, 2019–2023. Kaggle.</a:t>
            </a:r>
          </a:p>
          <a:p>
            <a:pPr>
              <a:spcAft>
                <a:spcPts val="900"/>
              </a:spcAft>
              <a:defRPr sz="1800"/>
            </a:pPr>
            <a:r>
              <a:t>STAT 562 Project 1: Discrete Random Variables and Their Probability Distributions. Course materials.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